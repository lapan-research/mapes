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77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13232" y="15179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Conciliação conceitual e plano de implementação v0.10.0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13232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para discussão entre os autores do framework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10351008" cy="0"/>
          </a:xfrm>
          <a:prstGeom prst="line">
            <a:avLst/>
          </a:prstGeom>
          <a:noFill/>
          <a:ln w="15240">
            <a:solidFill>
              <a:srgbClr val="C5C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246120"/>
            <a:ext cx="3474720" cy="1298448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da reunião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fechar a versão conceitual e operacional que orientará a atualização documental do MAPES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70832" y="3246120"/>
            <a:ext cx="3474720" cy="1298448"/>
          </a:xfrm>
          <a:prstGeom prst="rect">
            <a:avLst/>
          </a:prstGeom>
          <a:solidFill>
            <a:srgbClr val="DFF3EC"/>
          </a:solidFill>
          <a:ln w="12700">
            <a:solidFill>
              <a:srgbClr val="C3E5D5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Escopo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definição, constructos, MAPES Core, avaliação, governança, perfil institucional e separação do piloto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28432" y="3246120"/>
            <a:ext cx="3474720" cy="1298448"/>
          </a:xfrm>
          <a:prstGeom prst="rect">
            <a:avLst/>
          </a:prstGeom>
          <a:solidFill>
            <a:srgbClr val="FFF0D9"/>
          </a:solidFill>
          <a:ln w="12700">
            <a:solidFill>
              <a:srgbClr val="E5C58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 esperado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orientação consolidada para implementação no repositório local e revisão pelos autores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5760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de trabalho para deliberação — sem frases promocionais e sem uso decorativo de imagens.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DO ROTEIRO — APÓS REMOÇÃO DE REDUNDÂNCIAS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blocos para uma apresentação de 60–75 minutos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82880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2423160" y="1325880"/>
            <a:ext cx="658368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na reunião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9006840" y="1325880"/>
            <a:ext cx="201168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</a:t>
            </a:r>
            <a:endParaRPr lang="en-US" sz="136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Decisões de conciliação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6583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o que muda e o que não muda no MAPES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9006840" y="19202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3–8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182880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Modelo conceitual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2423160" y="2514600"/>
            <a:ext cx="658368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MAPES, BTTA, Core, Blueprint, grafo e mapa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9006840" y="2514600"/>
            <a:ext cx="201168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9–17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594360" y="310896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Operacionalização pedagógica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2423160" y="3108960"/>
            <a:ext cx="6583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Taxonomia, Relevância, Ancoragem e avaliação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9006840" y="310896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18–25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182880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MAPES Core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2423160" y="3703320"/>
            <a:ext cx="658368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Converter princípios em processos, rastreabilidade e autoria assistida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9006840" y="3703320"/>
            <a:ext cx="201168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26–33</a:t>
            </a:r>
            <a:endParaRPr lang="en-US" sz="1360" dirty="0"/>
          </a:p>
        </p:txBody>
      </p:sp>
      <p:sp>
        <p:nvSpPr>
          <p:cNvPr id="22" name="Text 20"/>
          <p:cNvSpPr/>
          <p:nvPr/>
        </p:nvSpPr>
        <p:spPr>
          <a:xfrm>
            <a:off x="594360" y="429768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Instituição, governança e validação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2423160" y="4297680"/>
            <a:ext cx="6583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framework, produto, instituição e pesquisa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9006840" y="429768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34–39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594360" y="4892040"/>
            <a:ext cx="182880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Implementação v0.10.0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2423160" y="4892040"/>
            <a:ext cx="658368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a sequência de atualização documental e critérios de aceite</a:t>
            </a:r>
            <a:endParaRPr lang="en-US" sz="1360" dirty="0"/>
          </a:p>
        </p:txBody>
      </p:sp>
      <p:sp>
        <p:nvSpPr>
          <p:cNvPr id="27" name="Text 25"/>
          <p:cNvSpPr/>
          <p:nvPr/>
        </p:nvSpPr>
        <p:spPr>
          <a:xfrm>
            <a:off x="9006840" y="4892040"/>
            <a:ext cx="2011680" cy="59436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40–45</a:t>
            </a:r>
            <a:endParaRPr lang="en-US" sz="1360" dirty="0"/>
          </a:p>
        </p:txBody>
      </p:sp>
      <p:sp>
        <p:nvSpPr>
          <p:cNvPr id="28" name="Text 26"/>
          <p:cNvSpPr/>
          <p:nvPr/>
        </p:nvSpPr>
        <p:spPr>
          <a:xfrm>
            <a:off x="685800" y="5623560"/>
            <a:ext cx="1069848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Redundância removida: slides sobre “piloto de Neurovisão” foram substituídos por uma única decisão de backlog. Slides sobre IA foram concentrados no MAPES Core, sem tratá-la como componente constitutivo do framework.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EDITORIAL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apresentação não fará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246120" cy="868680"/>
          </a:xfrm>
          <a:prstGeom prst="rect">
            <a:avLst/>
          </a:prstGeom>
          <a:solidFill>
            <a:srgbClr val="F8DFE2"/>
          </a:solidFill>
          <a:ln w="12700">
            <a:solidFill>
              <a:srgbClr val="E6B6B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venderá o método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3246120" cy="868680"/>
          </a:xfrm>
          <a:prstGeom prst="rect">
            <a:avLst/>
          </a:prstGeom>
          <a:solidFill>
            <a:srgbClr val="F8DFE2"/>
          </a:solidFill>
          <a:ln w="12700">
            <a:solidFill>
              <a:srgbClr val="E6B6B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tratará a tecnologia como essência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75320" y="1417320"/>
            <a:ext cx="3246120" cy="868680"/>
          </a:xfrm>
          <a:prstGeom prst="rect">
            <a:avLst/>
          </a:prstGeom>
          <a:solidFill>
            <a:srgbClr val="F8DFE2"/>
          </a:solidFill>
          <a:ln w="12700">
            <a:solidFill>
              <a:srgbClr val="E6B6B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transformará Neurovisão em definição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86000" y="2423160"/>
            <a:ext cx="0" cy="548640"/>
          </a:xfrm>
          <a:prstGeom prst="line">
            <a:avLst/>
          </a:prstGeom>
          <a:noFill/>
          <a:ln w="15240">
            <a:solidFill>
              <a:srgbClr val="C8D1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423160"/>
            <a:ext cx="0" cy="548640"/>
          </a:xfrm>
          <a:prstGeom prst="line">
            <a:avLst/>
          </a:prstGeom>
          <a:noFill/>
          <a:ln w="15240">
            <a:solidFill>
              <a:srgbClr val="C8D1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2423160"/>
            <a:ext cx="0" cy="548640"/>
          </a:xfrm>
          <a:prstGeom prst="line">
            <a:avLst/>
          </a:prstGeom>
          <a:noFill/>
          <a:ln w="15240">
            <a:solidFill>
              <a:srgbClr val="C8D1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3246120" cy="105156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Apresentará decisões de arquitetura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3063240"/>
            <a:ext cx="3246120" cy="105156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Distinguirá framework, Core, tecnologia e pesquisa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063240"/>
            <a:ext cx="3246120" cy="105156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Indicará como atualizar os documentos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4892040"/>
            <a:ext cx="1005840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foco é fechar a estrutura conceitual e operacional mínima para que o MAPES avance com unidade, rastreabilidade e capacidade de validação.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Decisões de conciliação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muda na versão 0.10.0 e quais limites precisam ficar explícitos.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 — Conciliação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Definição canônica: framework pedagógico, metodológico e institucional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1060704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 — Método de Aprendizagem por Estruturação Sistêmica — é um framework pedagógico, metodológico e institucional de aplicação transversal que organiza conhecimentos complexos como sistemas e orienta seu planejamento, apresentação, avaliação, adaptação e melhoria contínua.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10378440" cy="0"/>
          </a:xfrm>
          <a:prstGeom prst="line">
            <a:avLst/>
          </a:prstGeom>
          <a:noFill/>
          <a:ln w="13970">
            <a:solidFill>
              <a:srgbClr val="C9D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6324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Pedagógico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aprendizagem, tarefas, avaliação e transferência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306324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Metodológico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 processos, artefatos, autoria assistida e revisão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3880" y="3063240"/>
            <a:ext cx="3246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Institucional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alinhamento com currículo, PPI, avaliação interna e melhoria contínua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5074920"/>
            <a:ext cx="1024128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Mudança relevante: não apresentar “teoria em elaboração” como definição do MAPES. A validação acadêmica permanece como programa de investigação do framework.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 — Conciliação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IA sai da ontologia principal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2011680" cy="7132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4920" y="1828800"/>
            <a:ext cx="2011680" cy="71323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BTTA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23960" y="1828800"/>
            <a:ext cx="2377440" cy="713232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 Core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246120" y="2185416"/>
            <a:ext cx="1554480" cy="0"/>
          </a:xfrm>
          <a:prstGeom prst="line">
            <a:avLst/>
          </a:prstGeom>
          <a:noFill/>
          <a:ln w="1651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269480" y="2185416"/>
            <a:ext cx="1280160" cy="0"/>
          </a:xfrm>
          <a:prstGeom prst="line">
            <a:avLst/>
          </a:prstGeom>
          <a:noFill/>
          <a:ln w="1651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913632" y="1828800"/>
            <a:ext cx="256032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45552" y="1828800"/>
            <a:ext cx="256032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completo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conceitos + processos + avaliação + instituição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conceitual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Blueprint, Teleonomia, Taxonomia, Ancoragem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58200" y="297180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E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operacional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funções, registros, rastreabilidade e revisão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424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 IA são recursos de implementação do MAPES Core. Eles podem apoiar ou automatizar funções, mas não definem a natureza do framework.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 — Conciliação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professor permanece no centro da autoridade acadêmica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01168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611880" y="1325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1188720"/>
            <a:ext cx="2011680" cy="155448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 Core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estrutura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propõe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69680" y="132588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3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docente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80360" y="2286000"/>
            <a:ext cx="548640" cy="-22860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2057400"/>
            <a:ext cx="411480" cy="-9144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75320" y="1965960"/>
            <a:ext cx="411480" cy="9144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829800" y="2651760"/>
            <a:ext cx="0" cy="594360"/>
          </a:xfrm>
          <a:prstGeom prst="line">
            <a:avLst/>
          </a:prstGeom>
          <a:noFill/>
          <a:ln w="15240">
            <a:solidFill>
              <a:srgbClr val="AAB5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29800" y="3246120"/>
            <a:ext cx="-800100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143000" y="3794760"/>
            <a:ext cx="9875520" cy="77724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MAPES potencializa autoria assistida; não transfere autoridade epistemológica para o sistema.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Responsabilidades não delegáveis: escopo disciplinar, validade científica, relevância curricular, decisões avaliativas de alto impacto e interpretação de casos individuais.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 — Conciliação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Neurovisão é exemplo e piloto; não é a definição do MAPES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29184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fundador do MAPES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7E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constructos, relações, critérios de fidelidade e condições de contorno.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34840" y="1554480"/>
            <a:ext cx="3291840" cy="960120"/>
          </a:xfrm>
          <a:prstGeom prst="rect">
            <a:avLst/>
          </a:prstGeom>
          <a:solidFill>
            <a:srgbClr val="5B4E9A"/>
          </a:solidFill>
          <a:ln w="12700">
            <a:solidFill>
              <a:srgbClr val="5B4E9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Neurovisão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34840" y="27889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7E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aparecer como exemplo ilustrativo de domínio complexo e aplicado.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46720" y="1554480"/>
            <a:ext cx="3291840" cy="96012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piloto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2788920"/>
            <a:ext cx="3291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7E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 ser documento separado: viabilidade, usabilidade, aprendizagem, retenção, transferência e custos.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 documental: remover “prova inicial”, detalhes das 15 aulas, T0–T3 e resultados esperados do documento fundador. Registrar como backlog de pesquisa.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1 — Conciliação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DO FRAMEWORK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paralelo com a visão operacional trazida pelo Dr. Ricardo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886200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trazido à conciliação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4480560" y="1234440"/>
            <a:ext cx="7178040" cy="512064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Incorporação no MAPES v0.10.0</a:t>
            </a:r>
            <a:endParaRPr lang="en-US" sz="1340" dirty="0"/>
          </a:p>
        </p:txBody>
      </p:sp>
      <p:sp>
        <p:nvSpPr>
          <p:cNvPr id="9" name="Text 7"/>
          <p:cNvSpPr/>
          <p:nvPr/>
        </p:nvSpPr>
        <p:spPr>
          <a:xfrm>
            <a:off x="594360" y="1746504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Ênfase institucional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4480560" y="1746504"/>
            <a:ext cx="7178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 passa a incluir dimensão institucional sem reduzir o MAPES a política interna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594360" y="2368296"/>
            <a:ext cx="388620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Grafo, avaliação, relatórios e personalização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4480560" y="2368296"/>
            <a:ext cx="7178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Consolidados no MAPES Core como funções operacionais normativas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 assistida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4480560" y="2990088"/>
            <a:ext cx="7178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Formalizada como fluxo professor → Core → revisão docente → publicação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88620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PDI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480560" y="3611880"/>
            <a:ext cx="7178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Reinterpretado corretamente como Plano de Desenvolvimento Institucional, fora do escopo individual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594360" y="4233672"/>
            <a:ext cx="3886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em Neurovisão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4480560" y="4233672"/>
            <a:ext cx="7178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Separado do documento fundador e mantido como pendência de protocolo específico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10424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não cria duas versões do MAPES. Ele absorve contribuições operacionais dentro de uma arquitetura única.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conceitual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núcleo do MAPES precisa ficar mais simples na definição e mais preciso na operação.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GLOBAL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em camadas do MAPES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783080" cy="2286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Framework</a:t>
            </a:r>
            <a:endParaRPr lang="en-US" sz="1380" dirty="0"/>
          </a:p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 como estrutura pedagógica, metodológica e institucional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2651760" y="2697480"/>
            <a:ext cx="274320" cy="0"/>
          </a:xfrm>
          <a:prstGeom prst="line">
            <a:avLst/>
          </a:prstGeom>
          <a:noFill/>
          <a:ln w="1524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63240" y="1554480"/>
            <a:ext cx="1783080" cy="2286000"/>
          </a:xfrm>
          <a:prstGeom prst="rect">
            <a:avLst/>
          </a:prstGeom>
          <a:solidFill>
            <a:srgbClr val="DCEEFF"/>
          </a:solidFill>
          <a:ln w="12700">
            <a:solidFill>
              <a:srgbClr val="C6D1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Núcleo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BTTA + Estratificação de Relevância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4846320" y="2697480"/>
            <a:ext cx="274320" cy="0"/>
          </a:xfrm>
          <a:prstGeom prst="line">
            <a:avLst/>
          </a:prstGeom>
          <a:noFill/>
          <a:ln w="1524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57800" y="1554480"/>
            <a:ext cx="1783080" cy="2286000"/>
          </a:xfrm>
          <a:prstGeom prst="rect">
            <a:avLst/>
          </a:prstGeom>
          <a:solidFill>
            <a:srgbClr val="DFF3EC"/>
          </a:solidFill>
          <a:ln w="12700">
            <a:solidFill>
              <a:srgbClr val="C6D1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Core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Processos, registros, rastreabilidade, avaliação e revisão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040880" y="2697480"/>
            <a:ext cx="274320" cy="0"/>
          </a:xfrm>
          <a:prstGeom prst="line">
            <a:avLst/>
          </a:prstGeom>
          <a:noFill/>
          <a:ln w="1524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52360" y="1554480"/>
            <a:ext cx="1783080" cy="2286000"/>
          </a:xfrm>
          <a:prstGeom prst="rect">
            <a:avLst/>
          </a:prstGeom>
          <a:solidFill>
            <a:srgbClr val="FFF0D9"/>
          </a:solidFill>
          <a:ln w="12700">
            <a:solidFill>
              <a:srgbClr val="C6D1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Implementação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aulas, unidades, disciplinas, produtos ou ambientes digitais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9235440" y="2697480"/>
            <a:ext cx="274320" cy="0"/>
          </a:xfrm>
          <a:prstGeom prst="line">
            <a:avLst/>
          </a:prstGeom>
          <a:noFill/>
          <a:ln w="1524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646920" y="1554480"/>
            <a:ext cx="1783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1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Evidência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aprendizagem, qualidade, fidelidade e melhoria contínua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22960" y="4800600"/>
            <a:ext cx="106070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camada tecnológica pode existir na implementação, mas não ocupa o lugar do framework. A função do Core é preservar o método quando há escala, automação ou institucionalização.</a:t>
            </a:r>
            <a:endParaRPr lang="en-US" sz="1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BTTA E RELEVÂNCIA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Quatro pilares e uma dimensão transversal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09160" y="2331720"/>
            <a:ext cx="27432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sistema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2834640" cy="100584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funcional</a:t>
            </a:r>
            <a:endParaRPr lang="en-US" sz="1580" dirty="0"/>
          </a:p>
          <a:p>
            <a:pPr algn="ctr" indent="0" marL="0">
              <a:buNone/>
            </a:pPr>
            <a:r>
              <a:rPr lang="en-US" sz="15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está? Como se relaciona?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834640" cy="100584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Teleonomia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contribuição funcional desempenha?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8549640" y="1234440"/>
            <a:ext cx="2834640" cy="1005840"/>
          </a:xfrm>
          <a:prstGeom prst="rect">
            <a:avLst/>
          </a:prstGeom>
          <a:solidFill>
            <a:srgbClr val="FFF0D9"/>
          </a:solidFill>
          <a:ln w="12700">
            <a:solidFill>
              <a:srgbClr val="E7CA9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Taxonomia Acelerada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 estudante deve fazer?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8549640" y="4069080"/>
            <a:ext cx="2834640" cy="1005840"/>
          </a:xfrm>
          <a:prstGeom prst="rect">
            <a:avLst/>
          </a:prstGeom>
          <a:solidFill>
            <a:srgbClr val="E9E6F8"/>
          </a:solidFill>
          <a:ln w="12700">
            <a:solidFill>
              <a:srgbClr val="D1CAE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Ancoragem Contextual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qual entrada o conceito se torna acessível?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1005840" cy="91440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4572000"/>
            <a:ext cx="1005840" cy="-146304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49640" y="1600200"/>
            <a:ext cx="-1005840" cy="91440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4572000"/>
            <a:ext cx="-1005840" cy="-146304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11880" y="523036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Estratificação de Relevância Sistêmica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 o que é nuclear, habilitador, contextual ou extensão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DEFINIÇÕES DE REPRESENTAÇÃO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Blueprint, grafo e mapa não são sinônimos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337560" cy="219456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funcional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conceitual da arquitetura do domínio. Define fronteiras, níveis, componentes e relações relevantes.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1417320"/>
            <a:ext cx="3337560" cy="219456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Grafo sistêmico funcional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Formalização analítica ou computacional do Blueprint: nós, relações tipadas, direção, pesos, estados e feedback.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2440" y="1417320"/>
            <a:ext cx="3337560" cy="2194560"/>
          </a:xfrm>
          <a:prstGeom prst="rect">
            <a:avLst/>
          </a:prstGeom>
          <a:solidFill>
            <a:srgbClr val="FFF0D9"/>
          </a:solidFill>
          <a:ln w="12700">
            <a:solidFill>
              <a:srgbClr val="E7CA9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funcional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pedagógica do grafo, selecionada para um objetivo, público, tarefa ou momento da aprendizagem.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0" y="2514600"/>
            <a:ext cx="22860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72400" y="2514600"/>
            <a:ext cx="22860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4754880"/>
            <a:ext cx="1042416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metáfora da “planta” pode ser útil em comunicação inicial, mas não deve substituir a definição acadêmica. O grafo permite representar relações dinâmicas sem tornar o mapa pedagógico ilegível.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MAIS IMPORTANTE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os componentes atuam sobre o grafo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74320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804672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 no modelo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3474720" y="1664208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topologia: nós, fronteiras, níveis e relações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27432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Teleonomia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804672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Adiciona semântica funcional: contribuição, dependência, falha e variação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31520" y="272491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Relevância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3474720" y="2724912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Prioriza: nuclear, habilitadora, contextual ou extensão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731520" y="3255264"/>
            <a:ext cx="27432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Taxonomia Acelerada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3474720" y="3255264"/>
            <a:ext cx="804672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Vincula operações cognitivas, tarefas e evidências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731520" y="3785616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Ancoragem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3474720" y="3785616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portas de entrada e transição para a formulação disciplinar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31520" y="4315968"/>
            <a:ext cx="27432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3474720" y="4315968"/>
            <a:ext cx="804672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Produz evidências sobre nós, relações, funções e operações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868680" y="5303520"/>
            <a:ext cx="10424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grafo pode integrar informações de todos esses componentes; ele não é equivalente ao BTTA. O grafo é estrutura. O MAPES define como essa estrutura é usada para aprender, avaliar e revisar.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TRANSVERSAL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seguro de administração de medicamentos: Blueprint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920240" y="2276856"/>
            <a:ext cx="502920" cy="0"/>
          </a:xfrm>
          <a:prstGeom prst="line">
            <a:avLst/>
          </a:prstGeom>
          <a:noFill/>
          <a:ln w="1397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40480" y="2276856"/>
            <a:ext cx="502920" cy="0"/>
          </a:xfrm>
          <a:prstGeom prst="line">
            <a:avLst/>
          </a:prstGeom>
          <a:noFill/>
          <a:ln w="1397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760720" y="2276856"/>
            <a:ext cx="502920" cy="0"/>
          </a:xfrm>
          <a:prstGeom prst="line">
            <a:avLst/>
          </a:prstGeom>
          <a:noFill/>
          <a:ln w="1397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80960" y="2276856"/>
            <a:ext cx="502920" cy="0"/>
          </a:xfrm>
          <a:prstGeom prst="line">
            <a:avLst/>
          </a:prstGeom>
          <a:noFill/>
          <a:ln w="1397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0" y="2276856"/>
            <a:ext cx="411480" cy="0"/>
          </a:xfrm>
          <a:prstGeom prst="line">
            <a:avLst/>
          </a:prstGeom>
          <a:noFill/>
          <a:ln w="1397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1325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Prescrição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1325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34840" y="1965960"/>
            <a:ext cx="1325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Dispensação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1325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Identificação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75320" y="1965960"/>
            <a:ext cx="1325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Administração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104120" y="1965960"/>
            <a:ext cx="1325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9C7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Monitoramento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652760" y="2651760"/>
            <a:ext cx="-1371600" cy="1417320"/>
          </a:xfrm>
          <a:prstGeom prst="line">
            <a:avLst/>
          </a:prstGeom>
          <a:noFill/>
          <a:ln w="15240">
            <a:solidFill>
              <a:srgbClr val="2A7F6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81160" y="4069080"/>
            <a:ext cx="-7178040" cy="0"/>
          </a:xfrm>
          <a:prstGeom prst="line">
            <a:avLst/>
          </a:prstGeom>
          <a:noFill/>
          <a:ln w="15240">
            <a:solidFill>
              <a:srgbClr val="2A7F6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03120" y="4069080"/>
            <a:ext cx="-822960" cy="-1371600"/>
          </a:xfrm>
          <a:prstGeom prst="line">
            <a:avLst/>
          </a:prstGeom>
          <a:noFill/>
          <a:ln w="15240">
            <a:solidFill>
              <a:srgbClr val="2A7F6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68680" y="4526280"/>
            <a:ext cx="103327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Blueprint delimita o sistema e explicita relações. Ele ainda não ensina, por si só, o que é mais importante, o que deve ser aplicado, nem como diferentes estudantes entrarão no problema.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TRANSVERSAL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mesmo grafo recebe camadas pedagógicas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310896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Nó: Identificação do paciente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108960" cy="100584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Teleonomia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reduz risco de administração ao paciente incorreto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108960" cy="1005840"/>
          </a:xfrm>
          <a:prstGeom prst="rect">
            <a:avLst/>
          </a:prstGeom>
          <a:solidFill>
            <a:srgbClr val="FFF0D9"/>
          </a:solidFill>
          <a:ln w="12700">
            <a:solidFill>
              <a:srgbClr val="E7CA9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Relevância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Nuclear: falha tem alto risco e compromete todo o processo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2240280"/>
            <a:ext cx="3108960" cy="100584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analisar falha, avaliar consequências e propor intervenção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3886200"/>
            <a:ext cx="8138160" cy="914400"/>
          </a:xfrm>
          <a:prstGeom prst="rect">
            <a:avLst/>
          </a:prstGeom>
          <a:solidFill>
            <a:srgbClr val="E9E6F8"/>
          </a:solidFill>
          <a:ln w="12700">
            <a:solidFill>
              <a:srgbClr val="D1CAE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Ancoragem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saúde: segurança do paciente | engenharia: confiabilidade | direito: responsabilidade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3886200" y="1554480"/>
            <a:ext cx="2240280" cy="50292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1554480"/>
            <a:ext cx="-1554480" cy="50292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86200" y="1554480"/>
            <a:ext cx="5852160" cy="50292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5257800"/>
            <a:ext cx="1042416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 do exemplo: a estrutura do grafo torna o domínio navegável; o MAPES define como essa estrutura vira tarefa, evidência, contexto e revisão.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2 — Modelo conceitual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TELEONOMIA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função liga o conteúdo à experiência sem recorrer a finalismo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106984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Teleonomia é a análise da contribuição funcional de componentes e processos para estados, capacidades ou comportamentos do sistema, incluindo relações, dependências, variações, compensações e consequências de falha.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46120" cy="1645920"/>
          </a:xfrm>
          <a:prstGeom prst="rect">
            <a:avLst/>
          </a:prstGeom>
          <a:solidFill>
            <a:srgbClr val="F8DFE2"/>
          </a:solidFill>
          <a:ln w="12700">
            <a:solidFill>
              <a:srgbClr val="E6B6B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usar como termo formal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“propósito” em sistemas naturais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“para que existe”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“que problema resolve”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514600"/>
            <a:ext cx="3246120" cy="164592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preferencialmente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“contribui para”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“participa de”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“permite”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“desempenha função de”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2514600"/>
            <a:ext cx="3246120" cy="164592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Efeito pedagógico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conteúdo descolado da vivência, pois relaciona elemento, função, variação e consequência observável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10424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precisão conceitual é importante: função não autoriza inferir intenção.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Operacionalização pedagógica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só se torna MAPES quando orienta tarefa, evidência, feedback e transferência.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 — Operacionalização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TAXONOMIA ACELERADA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Acelerar não é pular fundamentos; é mudar o ponto de entrada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377440" y="2148840"/>
            <a:ext cx="365760" cy="-36576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60520" y="1691640"/>
            <a:ext cx="50292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44768" y="1901952"/>
            <a:ext cx="210312" cy="246888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2697480"/>
            <a:ext cx="0" cy="82296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4251960"/>
            <a:ext cx="-548640" cy="13716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4389120"/>
            <a:ext cx="-822960" cy="-22860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03120" y="4206240"/>
            <a:ext cx="-182880" cy="32004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4480560"/>
            <a:ext cx="182880" cy="-173736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1965960"/>
            <a:ext cx="1325880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autêntico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2743200" y="1417320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inicial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Lacunas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400800" y="3657600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160520" y="4160520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ou criação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2103120" y="3657600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68680" y="4480560"/>
            <a:ext cx="1325880" cy="658368"/>
          </a:xfrm>
          <a:prstGeom prst="rect">
            <a:avLst/>
          </a:prstGeom>
          <a:solidFill>
            <a:srgbClr val="DFF3EC"/>
          </a:solidFill>
          <a:ln w="12700">
            <a:solidFill>
              <a:srgbClr val="C9D3D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Transferência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458200" y="1508760"/>
            <a:ext cx="2971800" cy="347472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580" dirty="0"/>
          </a:p>
          <a:p>
            <a:pPr algn="l" indent="0" marL="0">
              <a:buNone/>
            </a:pPr>
            <a:r>
              <a:rPr lang="en-US" sz="15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estudante é exposto precoce e recorrentemente a tarefas autênticas que exigem aplicar, analisar, avaliar e criar; fundamentos entram conforme as demandas dessas tarefas.</a:t>
            </a:r>
            <a:endParaRPr lang="en-US" sz="15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 — Operacionalização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TAXONOMIA ACELERADA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versão 0.10.0 deve deixar explícito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elimina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memorização e compreensão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reduz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arbitrariamente o tempo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presume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criação sem fundamentos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89720" y="141732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usa Bloom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escada temporal rígida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103120" y="2560320"/>
            <a:ext cx="0" cy="594360"/>
          </a:xfrm>
          <a:prstGeom prst="line">
            <a:avLst/>
          </a:prstGeom>
          <a:noFill/>
          <a:ln w="13970">
            <a:solidFill>
              <a:srgbClr val="C6D0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2560320"/>
            <a:ext cx="0" cy="594360"/>
          </a:xfrm>
          <a:prstGeom prst="line">
            <a:avLst/>
          </a:prstGeom>
          <a:noFill/>
          <a:ln w="13970">
            <a:solidFill>
              <a:srgbClr val="C6D0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560320"/>
            <a:ext cx="0" cy="594360"/>
          </a:xfrm>
          <a:prstGeom prst="line">
            <a:avLst/>
          </a:prstGeom>
          <a:noFill/>
          <a:ln w="13970">
            <a:solidFill>
              <a:srgbClr val="C6D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2560320"/>
            <a:ext cx="0" cy="594360"/>
          </a:xfrm>
          <a:prstGeom prst="line">
            <a:avLst/>
          </a:prstGeom>
          <a:noFill/>
          <a:ln w="13970">
            <a:solidFill>
              <a:srgbClr val="C6D0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3337560"/>
            <a:ext cx="9601200" cy="128016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Reorganiza os fundamentos em função de tarefas complexas, com retorno aos conceitos necessários quando a própria tarefa revela lacunas.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4983480"/>
            <a:ext cx="9784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aceleração é pedagógica: antecipação do uso complexo, não promessa de aprendizagem mais rápida.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 — Operacionalização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RELEVÂNCIA SISTÊMICA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Prioridade curricular é diferente de complexidade cognitiva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82880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2423160" y="1234440"/>
            <a:ext cx="512064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 operacional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7543800" y="1234440"/>
            <a:ext cx="406908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no processo de medicamento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Nuclear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423160" y="1764792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Indispensável para compreender ou operar o sistema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543800" y="1764792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Identificação correta do paciente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94360" y="2478024"/>
            <a:ext cx="18288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Habilitadora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423160" y="2478024"/>
            <a:ext cx="51206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Pré-requisito ou recurso necessário para realizar a tarefa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543800" y="2478024"/>
            <a:ext cx="40690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 ou preparo necessário à administração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94360" y="3191256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Contextual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423160" y="3191256"/>
            <a:ext cx="5120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Importante em determinado ambiente, curso ou aplicação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543800" y="3191256"/>
            <a:ext cx="4069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Procedimento de um serviço específico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94360" y="3904488"/>
            <a:ext cx="182880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Extensão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2423160" y="3904488"/>
            <a:ext cx="512064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Aprofundamento ou especialização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543800" y="3904488"/>
            <a:ext cx="4069080" cy="71323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farmacoeconômica avançada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77240" y="5120640"/>
            <a:ext cx="1065276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Critérios: centralidade, criticidade, precedência, frequência, capacidade de transferência, complexidade e risco do erro. A relevância não deve virar quinto pilar.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 — Operacionalização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ANCORAGEM CONTEXTUAL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âncora precisa ter saída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246120" cy="1828800"/>
          </a:xfrm>
          <a:prstGeom prst="rect">
            <a:avLst/>
          </a:prstGeom>
          <a:solidFill>
            <a:srgbClr val="E9E6F8"/>
          </a:solidFill>
          <a:ln w="12700">
            <a:solidFill>
              <a:srgbClr val="D1CAEF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Ativação de repertório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Partir de linguagem, caso, problema ou prática conhecida pelo estudante.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4630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Formulação disciplinar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Converter a entrada inicial em conceito válido, com limites da analogia explicitados.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83880" y="1463040"/>
            <a:ext cx="3246120" cy="182880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Desancoragem e transferência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o conceito em novo contexto, demonstrando que não ficou preso à porta de entrada.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3360" y="2377440"/>
            <a:ext cx="32004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26680" y="2377440"/>
            <a:ext cx="32004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8680" y="4572000"/>
            <a:ext cx="104241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invariância: a forma inicial de apresentação pode variar; o núcleo científico, os objetivos finais e os critérios de validade não podem ser deformados.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 — Operacionalização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 DO ESTUDANTE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BTTA como protocolo metacognitivo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179576"/>
            <a:ext cx="95097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este conhecimento se encontra no sistema?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002536"/>
            <a:ext cx="95097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contribuição funcional ele desempenha?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25496"/>
            <a:ext cx="95097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preciso ser capaz de fazer com esse conhecimento?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648456"/>
            <a:ext cx="95097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ele se conecta ao meu repertório?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4471416"/>
            <a:ext cx="95097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Consigo aplicá-lo em outro contexto?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Essas perguntas transformam o método em ação cognitiva do estudante, não apenas em planejamento docente.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3 — Operacionalização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ALINHAMENTO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aula MAPES precisa produzir evidência, não apenas exposição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50876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80360" y="1828800"/>
            <a:ext cx="150876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Tarefa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150876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1828800"/>
            <a:ext cx="150876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0" y="1828800"/>
            <a:ext cx="150876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40280" y="2130552"/>
            <a:ext cx="54864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130552"/>
            <a:ext cx="54864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37960" y="2130552"/>
            <a:ext cx="54864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0" y="2130552"/>
            <a:ext cx="54864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1520" y="283464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deve ser dominado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2880360" y="283464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autêntica solicitada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comportamento observável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7178040" y="283464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à lacuna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9326880" y="283464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do percurso ou do material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1042416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estrutural do MAPES não é “quantos acertos”. Ela pergunta se o desempenho revela domínio de relações, funções, operações cognitivas e transferência.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MAPES Core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Core é a tradução operacional do framework: processos, registros, rastreabilidade e decisões.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MAPES Core não é sinônimo de software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 Core é a arquitetura operacional que traduz os constructos do MAPES em processos, relações, registros, atividades, avaliações e mecanismos de revisão.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executado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manualmente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27432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apoiado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ambiente digital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58200" y="27432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ampliado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IA e automação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10424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autenticidade da implementação depende da preservação das funções do Core, não do grau de tecnologia utilizada.</a:t>
            </a:r>
            <a:endParaRPr lang="en-US" sz="1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NORMATIVAS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Core concentra o mínimo operacional do MAPES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25272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Delimitar sistema e fronteiras</a:t>
            </a:r>
            <a:endParaRPr lang="en-US" sz="174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30428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Blueprint e grafo sistêmico funcional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Anotar funções, relevância e operações cognitivas</a:t>
            </a:r>
            <a:endParaRPr lang="en-US" sz="1740" dirty="0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440740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Planejar ancoragem, desancoragem e transferência</a:t>
            </a:r>
            <a:endParaRPr lang="en-US" sz="1740" dirty="0"/>
          </a:p>
        </p:txBody>
      </p:sp>
      <p:sp>
        <p:nvSpPr>
          <p:cNvPr id="15" name="Text 13"/>
          <p:cNvSpPr/>
          <p:nvPr/>
        </p:nvSpPr>
        <p:spPr>
          <a:xfrm>
            <a:off x="6263640" y="123444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125272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Alinhar objetivo, tarefa, evidência, feedback e fonte</a:t>
            </a:r>
            <a:endParaRPr lang="en-US" sz="174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230428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rastreabilidade, lacunas, conflitos e decisões</a:t>
            </a:r>
            <a:endParaRPr lang="en-US" sz="1740" dirty="0"/>
          </a:p>
        </p:txBody>
      </p:sp>
      <p:sp>
        <p:nvSpPr>
          <p:cNvPr id="19" name="Text 17"/>
          <p:cNvSpPr/>
          <p:nvPr/>
        </p:nvSpPr>
        <p:spPr>
          <a:xfrm>
            <a:off x="6263640" y="333756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Mensurar aprendizagem, qualidade e fidelidade</a:t>
            </a:r>
            <a:endParaRPr lang="en-US" sz="1740" dirty="0"/>
          </a:p>
        </p:txBody>
      </p:sp>
      <p:sp>
        <p:nvSpPr>
          <p:cNvPr id="21" name="Text 19"/>
          <p:cNvSpPr/>
          <p:nvPr/>
        </p:nvSpPr>
        <p:spPr>
          <a:xfrm>
            <a:off x="6263640" y="4389120"/>
            <a:ext cx="502920" cy="5029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4407408"/>
            <a:ext cx="4572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4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Apoiar autoria assistida, relatórios e revisão</a:t>
            </a:r>
            <a:endParaRPr lang="en-US" sz="1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mínimo: fontes antes da produção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artigos, slides, notas, normas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2148840" y="2542032"/>
            <a:ext cx="228600" cy="0"/>
          </a:xfrm>
          <a:prstGeom prst="line">
            <a:avLst/>
          </a:prstGeom>
          <a:noFill/>
          <a:ln w="1270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468880" y="192024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cobertura, conflitos, lacunas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069080" y="2542032"/>
            <a:ext cx="228600" cy="0"/>
          </a:xfrm>
          <a:prstGeom prst="line">
            <a:avLst/>
          </a:prstGeom>
          <a:noFill/>
          <a:ln w="1270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89120" y="1920240"/>
            <a:ext cx="1600200" cy="1234440"/>
          </a:xfrm>
          <a:prstGeom prst="rect">
            <a:avLst/>
          </a:prstGeom>
          <a:solidFill>
            <a:srgbClr val="FFF0D9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docente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antes da produção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5989320" y="2542032"/>
            <a:ext cx="228600" cy="0"/>
          </a:xfrm>
          <a:prstGeom prst="line">
            <a:avLst/>
          </a:prstGeom>
          <a:noFill/>
          <a:ln w="1270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Produção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aula, tarefa, artefato, avaliação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909560" y="2542032"/>
            <a:ext cx="228600" cy="0"/>
          </a:xfrm>
          <a:prstGeom prst="line">
            <a:avLst/>
          </a:prstGeom>
          <a:noFill/>
          <a:ln w="1270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00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 do produto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coerência, fontes, alinhamento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9829800" y="2542032"/>
            <a:ext cx="228600" cy="0"/>
          </a:xfrm>
          <a:prstGeom prst="line">
            <a:avLst/>
          </a:prstGeom>
          <a:noFill/>
          <a:ln w="1270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149840" y="1920240"/>
            <a:ext cx="1600200" cy="1234440"/>
          </a:xfrm>
          <a:prstGeom prst="rect">
            <a:avLst/>
          </a:prstGeom>
          <a:solidFill>
            <a:srgbClr val="DFF3EC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Publicação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e registro de decisão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868680" y="4526280"/>
            <a:ext cx="10424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objetivo não é burocratizar. O objetivo é impedir que o sistema produza materiais sem fonte, sem escopo, sem rastreabilidade ou sem aprovação docente.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 ASSISTIDA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Responsabilidades distribuídas sem confusão de autoridade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18288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2423160" y="1280160"/>
            <a:ext cx="475488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fazer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178040" y="1280160"/>
            <a:ext cx="443484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deve fazer sozinho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ou sistema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Extrair, estruturar, comparar, sugerir, gerar rascunhos, verificar alinhamento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178040" y="1783080"/>
            <a:ext cx="4434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validade científica, relevância final ou decisão de alto impacto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182880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2423160" y="2788920"/>
            <a:ext cx="475488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escopo, validar ciência, corrigir relações, aprovar tarefas e interpretar evidências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178040" y="2788920"/>
            <a:ext cx="4434840" cy="1005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Delegar responsabilidade acadêmica ao sistema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Instituição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2423160" y="3794760"/>
            <a:ext cx="4754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políticas, limites de automação, privacidade, governança e relação com PPI/PDI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178040" y="3794760"/>
            <a:ext cx="4434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métricas operacionais em decisões sem avaliação contextual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Autoria assistida é uma capacidade do Core. Não é substituição docente.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NORMATIVA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questão ou tarefa deve ser rastreável ao sistema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283464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3520440" y="1143000"/>
            <a:ext cx="800100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de controle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685800" y="158191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520440" y="1581912"/>
            <a:ext cx="8001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resultado é esperado?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85800" y="2084832"/>
            <a:ext cx="283464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Nó principal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520440" y="2084832"/>
            <a:ext cx="800100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conceito central está em jogo?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85800" y="258775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Relação e função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8001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conexão e contribuição funcional são avaliadas?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85800" y="3090672"/>
            <a:ext cx="283464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cognitiva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520440" y="3090672"/>
            <a:ext cx="800100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estudante deve aplicar, analisar, avaliar ou criar?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85800" y="359359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Relevância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520440" y="3593592"/>
            <a:ext cx="8001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elemento é nuclear, habilitador, contextual ou extensão?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85800" y="4096512"/>
            <a:ext cx="283464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e feedback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520440" y="4096512"/>
            <a:ext cx="8001000" cy="50292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comportamento demonstra domínio e que retorno será dado?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85800" y="459943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 e confiança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3520440" y="4599432"/>
            <a:ext cx="8001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a proveniência e qual o grau de segurança da inferência?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6868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matriz é a ponte entre grafo, avaliação e relatório ao professor.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DO ESTUDANTE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Inferências sobre lacunas devem ser provisórias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observada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828800"/>
            <a:ext cx="2194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Hipótese interpretativa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828800"/>
            <a:ext cx="1645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Confiança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3880" y="1828800"/>
            <a:ext cx="1737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2720" y="1828800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80360" y="2167128"/>
            <a:ext cx="41148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2167128"/>
            <a:ext cx="41148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2167128"/>
            <a:ext cx="41148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21240" y="2167128"/>
            <a:ext cx="41148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234440" y="3657600"/>
            <a:ext cx="9738360" cy="1005840"/>
          </a:xfrm>
          <a:prstGeom prst="rect">
            <a:avLst/>
          </a:prstGeom>
          <a:solidFill>
            <a:srgbClr val="FFF0D9"/>
          </a:solidFill>
          <a:ln w="12700">
            <a:solidFill>
              <a:srgbClr val="E7CA9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usar PDI para plano individual.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PDI é Plano de Desenvolvimento Institucional e fica fora do escopo individual do Core.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Termos aceitáveis: registro longitudinal de aprendizagem; perfil dinâmico de aprendizagem; histórico de evidências e intervenções.</a:t>
            </a:r>
            <a:endParaRPr lang="en-US" sz="14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AUTOMAÇÃO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Supervisão proporcional ao risco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8745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2560320" y="1417320"/>
            <a:ext cx="457200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operacional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132320" y="1417320"/>
            <a:ext cx="4389120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685800" y="1947672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Baixo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2560320" y="19476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Automação registrada e reversível</a:t>
            </a:r>
            <a:endParaRPr lang="en-US" sz="1360" dirty="0"/>
          </a:p>
        </p:txBody>
      </p:sp>
      <p:sp>
        <p:nvSpPr>
          <p:cNvPr id="12" name="Text 10"/>
          <p:cNvSpPr/>
          <p:nvPr/>
        </p:nvSpPr>
        <p:spPr>
          <a:xfrm>
            <a:off x="7132320" y="1947672"/>
            <a:ext cx="4389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sugestão de leitura, explicação alternativa, treino adicional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685800" y="2862072"/>
            <a:ext cx="187452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Intermediário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2560320" y="2862072"/>
            <a:ext cx="457200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Recomendação automática com revisão por gatilho ou amostragem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7132320" y="2862072"/>
            <a:ext cx="4389120" cy="914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de lacuna recorrente, recomendação de intervenção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685800" y="3776472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2560320" y="3776472"/>
            <a:ext cx="4572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humana obrigatória antes da decisão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7132320" y="3776472"/>
            <a:ext cx="4389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final, reprovação, progressão, redução de exigências, encaminhamento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1280160" y="4937760"/>
            <a:ext cx="9601200" cy="749808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Direitos do estudante: solicitar ajuda, contestar inferências e pedir revisão humana.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4 — MAPES 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AO PROFESSOR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relatório deve apoiar decisão, não decidir pelo docente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1435608" y="118872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desempenho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03911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0" name="Text 8"/>
          <p:cNvSpPr/>
          <p:nvPr/>
        </p:nvSpPr>
        <p:spPr>
          <a:xfrm>
            <a:off x="1435608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envolvidos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1635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2" name="Text 10"/>
          <p:cNvSpPr/>
          <p:nvPr/>
        </p:nvSpPr>
        <p:spPr>
          <a:xfrm>
            <a:off x="1435608" y="274320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 observadas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359359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4" name="Text 12"/>
          <p:cNvSpPr/>
          <p:nvPr/>
        </p:nvSpPr>
        <p:spPr>
          <a:xfrm>
            <a:off x="1435608" y="352044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possíveis lacunas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37083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6" name="Text 14"/>
          <p:cNvSpPr/>
          <p:nvPr/>
        </p:nvSpPr>
        <p:spPr>
          <a:xfrm>
            <a:off x="1435608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intervenções anteriores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126187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8" name="Text 16"/>
          <p:cNvSpPr/>
          <p:nvPr/>
        </p:nvSpPr>
        <p:spPr>
          <a:xfrm>
            <a:off x="6784848" y="118872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03911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6784848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grau de confiança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81635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2" name="Text 20"/>
          <p:cNvSpPr/>
          <p:nvPr/>
        </p:nvSpPr>
        <p:spPr>
          <a:xfrm>
            <a:off x="6784848" y="274320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alternativas explicativas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59359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4" name="Text 22"/>
          <p:cNvSpPr/>
          <p:nvPr/>
        </p:nvSpPr>
        <p:spPr>
          <a:xfrm>
            <a:off x="6784848" y="352044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recomendação não vinculante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4370832"/>
            <a:ext cx="201168" cy="20116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6" name="Text 24"/>
          <p:cNvSpPr/>
          <p:nvPr/>
        </p:nvSpPr>
        <p:spPr>
          <a:xfrm>
            <a:off x="6784848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docente registrada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5486400"/>
            <a:ext cx="10424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3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Relatórios eficazes reduzem invisibilidade das lacunas, mas devem preservar interpretação humana e contexto institucional.</a:t>
            </a:r>
            <a:endParaRPr lang="en-US" sz="16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Instituição, qualidade e validação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versão 0.10.0 precisa medir a qualidade do método sem fingir que já existe um escore único validado.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 —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MENSURAÇÃO DO MAPES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domínios de qualidade, sem escore agregado inicial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154680" cy="914400"/>
          </a:xfrm>
          <a:prstGeom prst="rect">
            <a:avLst/>
          </a:prstGeom>
          <a:solidFill>
            <a:srgbClr val="DCEEFF"/>
          </a:solidFill>
          <a:ln w="12700">
            <a:solidFill>
              <a:srgbClr val="C8D2E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Fidelidade estrutural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1417320"/>
            <a:ext cx="3154680" cy="914400"/>
          </a:xfrm>
          <a:prstGeom prst="rect">
            <a:avLst/>
          </a:prstGeom>
          <a:solidFill>
            <a:srgbClr val="DFF3EC"/>
          </a:solidFill>
          <a:ln w="12700">
            <a:solidFill>
              <a:srgbClr val="C8D2E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 pedagógica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75320" y="1417320"/>
            <a:ext cx="3154680" cy="914400"/>
          </a:xfrm>
          <a:prstGeom prst="rect">
            <a:avLst/>
          </a:prstGeom>
          <a:solidFill>
            <a:srgbClr val="FFF0D9"/>
          </a:solidFill>
          <a:ln w="12700">
            <a:solidFill>
              <a:srgbClr val="C8D2E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Aprendizagem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154680" cy="914400"/>
          </a:xfrm>
          <a:prstGeom prst="rect">
            <a:avLst/>
          </a:prstGeom>
          <a:solidFill>
            <a:srgbClr val="E9E6F8"/>
          </a:solidFill>
          <a:ln w="12700">
            <a:solidFill>
              <a:srgbClr val="C8D2E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 operacional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063240"/>
            <a:ext cx="3154680" cy="914400"/>
          </a:xfrm>
          <a:prstGeom prst="rect">
            <a:avLst/>
          </a:prstGeom>
          <a:solidFill>
            <a:srgbClr val="EEF2F6"/>
          </a:solidFill>
          <a:ln w="12700">
            <a:solidFill>
              <a:srgbClr val="C8D2E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institucional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306324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E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 das inferências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212080"/>
            <a:ext cx="104241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validação empírica, os domínios devem ser analisados separadamente. Um escore agregado poderia esconder falhas críticas em uma dimensão.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 —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FIDELIDADE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Critérios mínimos de uma implementação MAPES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e fronteira explícitos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relações funcionalmente justificadas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8183880" y="132588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progressão cognitiva observável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ancoragem seguida de abstração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4480560" y="233172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tarefa de aplicação ou transferência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8183880" y="233172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alinhamento objetivo–atividade–avaliação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revisão docente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4480560" y="333756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8183880" y="3337560"/>
            <a:ext cx="3063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limites e incertezas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1042416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Fidelidade é requisito para atribuir resultados ao MAPES. Sem fidelidade, qualquer efeito observado pode pertencer ao professor, à tecnologia, ao conteúdo ou a uma metodologia incorporada.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 — Instituição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INSTITUCIONAL MAPES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Adaptação institucional sem deriva conceitual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292608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3703320" y="1234440"/>
            <a:ext cx="772668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adotada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3703320" y="1737360"/>
            <a:ext cx="7726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a base normativa do MAPES usada pela instituição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77240" y="2267712"/>
            <a:ext cx="292608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Cursos e unidades abrangidos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3703320" y="2267712"/>
            <a:ext cx="772668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Delimitar escopo da adoção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Tecnologias e limites de automação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3703320" y="2798064"/>
            <a:ext cx="7726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Controlar risco operacional e acadêmico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777240" y="3328416"/>
            <a:ext cx="292608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 de dados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3703320" y="3328416"/>
            <a:ext cx="772668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privacidade, acesso e retenção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777240" y="3858768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Relação com PPI e PDI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3703320" y="3858768"/>
            <a:ext cx="7726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Vincular evidências agregadas à melhoria institucional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292608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Responsáveis e revisão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3703320" y="4389120"/>
            <a:ext cx="772668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Determinar governança local e ciclos de atualização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868680" y="5394960"/>
            <a:ext cx="1042416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instituição pode adaptar a implementação. Não pode redefinir unilateralmente os constructos canônicos.</a:t>
            </a:r>
            <a:endParaRPr lang="en-US" sz="16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 — Governança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Três esferas com responsabilidades diferentes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3108960" cy="7132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26280" y="1463040"/>
            <a:ext cx="3108960" cy="71323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Produto / Core digital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1463040"/>
            <a:ext cx="3108960" cy="713232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Instituição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108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terminologia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fidelidade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alegações científicas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3108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suporte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514600"/>
            <a:ext cx="3108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currículos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políticas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aprovações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local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5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ordem de autoria do documento fundador não deve ser alterada sem decisão explícita do Núcleo Fundador.</a:t>
            </a:r>
            <a:endParaRPr lang="en-US" sz="15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 — Pesquisa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Pesquisa não é a definição do MAPES, mas permanece necessária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291840" cy="914400"/>
          </a:xfrm>
          <a:prstGeom prst="rect">
            <a:avLst/>
          </a:prstGeom>
          <a:solidFill>
            <a:srgbClr val="F8DFE2"/>
          </a:solidFill>
          <a:ln w="12700">
            <a:solidFill>
              <a:srgbClr val="E6B6BE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sai da definição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291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expressões como “teoria em elaboração” como caracterização principal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34840" y="1508760"/>
            <a:ext cx="3291840" cy="91440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permanece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34840" y="2743200"/>
            <a:ext cx="3291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proposições testáveis, condições de contorno, critérios de fidelidade e revisão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508760"/>
            <a:ext cx="3291840" cy="91440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Formulação final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2440" y="2743200"/>
            <a:ext cx="3291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investigação, validação e aperfeiçoamento do framework MAPES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5120640"/>
            <a:ext cx="10424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conciliação reduz ruído discursivo sem reduzir o rigor acadêmico.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5 — Pesquisa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CONDIÇÕES DE CONTORNO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MAPES deve evitar alegações universais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291840" cy="68580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promissor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domínios complexos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relações muitos-para-muitos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e consequências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tomada de decisão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transferência entre contextos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34840" y="1508760"/>
            <a:ext cx="3291840" cy="685800"/>
          </a:xfrm>
          <a:prstGeom prst="rect">
            <a:avLst/>
          </a:prstGeom>
          <a:solidFill>
            <a:srgbClr val="A35E00"/>
          </a:solidFill>
          <a:ln w="12700">
            <a:solidFill>
              <a:srgbClr val="A35E0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Efeitos moderados por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 prévio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disponível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 docente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 das fontes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complexidade da tarefa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508760"/>
            <a:ext cx="3291840" cy="68580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de revisão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constructos indistintos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grafo não usado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ancoragem sem transferência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custos maiores que benefícios</a:t>
            </a:r>
            <a:endParaRPr lang="en-US" sz="1550" dirty="0"/>
          </a:p>
          <a:p>
            <a:r>
              <a:rPr lang="en-US" sz="15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efeitos adversos ou inequidade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Implementação v0.10.0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8803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atualizar os documentos sem fragmentar o projeto.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 — Implementação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HIERARQUIA DOCUMENTAL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documentos, seis funções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329184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3977640" y="1143000"/>
            <a:ext cx="754380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Função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5800" y="1618488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fundador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3977640" y="1618488"/>
            <a:ext cx="7543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Definição, constructos, relações, condições de contorno e validação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de implementação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3977640" y="2148840"/>
            <a:ext cx="7543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Ciclo, níveis, templates, artefatos e fidelidade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85800" y="2679192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Especificação do MAPES Core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3977640" y="2679192"/>
            <a:ext cx="7543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Funções, dados, rastreabilidade, avaliação, automação e relatórios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685800" y="3209544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Institucional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3977640" y="3209544"/>
            <a:ext cx="7543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Adaptações locais, políticas, PPI/PDI e responsabilidades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85800" y="3739896"/>
            <a:ext cx="3291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 de pesquisa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3977640" y="3739896"/>
            <a:ext cx="7543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Pilotos, instrumentos, hipóteses, métricas e análises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685800" y="4270248"/>
            <a:ext cx="329184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 docente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3977640" y="4270248"/>
            <a:ext cx="7543800" cy="530352"/>
          </a:xfrm>
          <a:prstGeom prst="rect">
            <a:avLst/>
          </a:prstGeom>
          <a:solidFill>
            <a:srgbClr val="F4F7FA"/>
          </a:solidFill>
          <a:ln w="12700">
            <a:solidFill>
              <a:srgbClr val="D9E0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Curso, guias, exemplos, prompts e avaliação</a:t>
            </a:r>
            <a:endParaRPr lang="en-US" sz="13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 — Implementação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0.10.0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não é apenas correção pontual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 a definição canônica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14173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“teoria em elaboração” da caracterização principal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92440" y="14173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Reorganiza MAPES, BTTA e Core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Formaliza dimensão institucional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27889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 mensuração de qualidade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92440" y="278892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piloto de Neurovisão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4800600"/>
            <a:ext cx="101498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Versão recomendada: MAPES v0.10.0. A alteração é substantiva e deve ser registrada no CHANGELOG.</a:t>
            </a:r>
            <a:endParaRPr lang="en-US" sz="1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 — Implementação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DE TRABALHO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Implementação local com Codex CLI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5486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de conciliação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48840" y="2852928"/>
            <a:ext cx="27432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017520" y="1600200"/>
            <a:ext cx="5486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2377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 dos arquivos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69080" y="2852928"/>
            <a:ext cx="27432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937760" y="1600200"/>
            <a:ext cx="5486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34840" y="2377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de termos obsoletos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89320" y="2852928"/>
            <a:ext cx="27432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858000" y="1600200"/>
            <a:ext cx="5486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Atualização do fundador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09560" y="2852928"/>
            <a:ext cx="27432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778240" y="1600200"/>
            <a:ext cx="5486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2377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Atualização Core / manual / formação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829800" y="2852928"/>
            <a:ext cx="274320" cy="0"/>
          </a:xfrm>
          <a:prstGeom prst="line">
            <a:avLst/>
          </a:prstGeom>
          <a:noFill/>
          <a:ln w="17780">
            <a:solidFill>
              <a:srgbClr val="AAB5C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698480" y="1600200"/>
            <a:ext cx="5486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95560" y="2377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global e diff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34440" y="4434840"/>
            <a:ext cx="9692640" cy="868680"/>
          </a:xfrm>
          <a:prstGeom prst="rect">
            <a:avLst/>
          </a:prstGeom>
          <a:solidFill>
            <a:srgbClr val="FFF0D9"/>
          </a:solidFill>
          <a:ln w="12700">
            <a:solidFill>
              <a:srgbClr val="E7CA9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de segurança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deletar arquivos temporários e não fazer commit/push antes da revisão humana do diff.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 — Implementação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DE ACEITE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saber que a conciliação foi implementada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“teoria em elaboração” removida da definição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validação preservado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fora da ontologia principal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333756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MAPES, BTTA e Core distinguidos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definido como arquitetura operacional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Blueprint, grafo e mapa separados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6217920" y="123444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14300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relevância separada da Taxonomia Acelerada</a:t>
            </a:r>
            <a:endParaRPr lang="en-US" sz="1620" dirty="0"/>
          </a:p>
        </p:txBody>
      </p:sp>
      <p:sp>
        <p:nvSpPr>
          <p:cNvPr id="21" name="Text 19"/>
          <p:cNvSpPr/>
          <p:nvPr/>
        </p:nvSpPr>
        <p:spPr>
          <a:xfrm>
            <a:off x="6217920" y="196596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PDI individual removido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6217920" y="269748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60604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Neurovisão apenas como exemplo</a:t>
            </a:r>
            <a:endParaRPr lang="en-US" sz="1620" dirty="0"/>
          </a:p>
        </p:txBody>
      </p:sp>
      <p:sp>
        <p:nvSpPr>
          <p:cNvPr id="25" name="Text 23"/>
          <p:cNvSpPr/>
          <p:nvPr/>
        </p:nvSpPr>
        <p:spPr>
          <a:xfrm>
            <a:off x="6217920" y="342900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333756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mensuração de qualidade em seis domínios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6217920" y="416052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Institucional criado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6217920" y="4892040"/>
            <a:ext cx="320040" cy="320040"/>
          </a:xfrm>
          <a:prstGeom prst="rect">
            <a:avLst/>
          </a:prstGeom>
          <a:solidFill>
            <a:srgbClr val="2A7F62"/>
          </a:solidFill>
          <a:ln w="12700">
            <a:solidFill>
              <a:srgbClr val="2A7F62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4800600"/>
            <a:ext cx="4572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CHANGELOG atualizado para 0.10.0</a:t>
            </a:r>
            <a:endParaRPr lang="en-US" sz="16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 — Implementação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fica fora do documento fundador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3246120" cy="777240"/>
          </a:xfrm>
          <a:prstGeom prst="rect">
            <a:avLst/>
          </a:prstGeom>
          <a:solidFill>
            <a:srgbClr val="5B4E9A"/>
          </a:solidFill>
          <a:ln w="12700">
            <a:solidFill>
              <a:srgbClr val="5B4E9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 do piloto em Neurovisão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971800" cy="2423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viabilidade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aceitabilidade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usabilidade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engajamento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aprendizagem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retenção e transferência</a:t>
            </a:r>
            <a:endParaRPr lang="en-US" sz="1470" dirty="0"/>
          </a:p>
        </p:txBody>
      </p:sp>
      <p:sp>
        <p:nvSpPr>
          <p:cNvPr id="9" name="Text 7"/>
          <p:cNvSpPr/>
          <p:nvPr/>
        </p:nvSpPr>
        <p:spPr>
          <a:xfrm>
            <a:off x="4480560" y="1234440"/>
            <a:ext cx="3246120" cy="777240"/>
          </a:xfrm>
          <a:prstGeom prst="rect">
            <a:avLst/>
          </a:prstGeom>
          <a:solidFill>
            <a:srgbClr val="5B4E9A"/>
          </a:solidFill>
          <a:ln w="12700">
            <a:solidFill>
              <a:srgbClr val="5B4E9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 operacional do piloto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2971800" cy="2423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fidelidade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custos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equidade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precisão das inferências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ausentes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T0–T3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8138160" y="1234440"/>
            <a:ext cx="3246120" cy="777240"/>
          </a:xfrm>
          <a:prstGeom prst="rect">
            <a:avLst/>
          </a:prstGeom>
          <a:solidFill>
            <a:srgbClr val="5B4E9A"/>
          </a:solidFill>
          <a:ln w="12700">
            <a:solidFill>
              <a:srgbClr val="5B4E9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Adoção docente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2971800" cy="2423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aceitação ou resistência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percepção de autonomia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de revisão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sugestões rejeitadas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confiança no sistema</a:t>
            </a:r>
            <a:endParaRPr lang="en-US" sz="1470" dirty="0"/>
          </a:p>
          <a:p>
            <a:r>
              <a:rPr lang="en-US" sz="147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mudanças ao longo do curso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10424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Esses itens devem ser armazenados como pendência de pesquisa, não misturados à definição do framework.</a:t>
            </a:r>
            <a:endParaRPr lang="en-US" sz="1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 6 — Implementação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 ENTRE AUTORES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Decisões que precisam ser confirmadas na reunião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161288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definição canônica v0.10.0 é aceita?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911096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MAPES Core será descrito como arquitetura operacional do framework?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14400" y="2642616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2660904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IA ficará fora da ontologia principal?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914400" y="3392424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410712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Neurovisão ficará apenas como exemplo e protocolo separado?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914400" y="4142232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4160520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ordem de autoria permanecerá congelada até deliberação formal?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502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10328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repositório local com Codex CLI será o método de implementação?</a:t>
            </a:r>
            <a:endParaRPr lang="en-US" sz="1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772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 operacional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MAPES v0.10.0 consolida unidade conceitual e capacidade institucional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154680" cy="1097280"/>
          </a:xfrm>
          <a:prstGeom prst="rect">
            <a:avLst/>
          </a:prstGeom>
          <a:solidFill>
            <a:srgbClr val="DCEEFF"/>
          </a:solidFill>
          <a:ln w="12700">
            <a:solidFill>
              <a:srgbClr val="BBD7F0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conhecimento complexo como sistema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2880360"/>
            <a:ext cx="3154680" cy="1097280"/>
          </a:xfrm>
          <a:prstGeom prst="rect">
            <a:avLst/>
          </a:prstGeom>
          <a:solidFill>
            <a:srgbClr val="DFF3EC"/>
          </a:solidFill>
          <a:ln w="12700">
            <a:solidFill>
              <a:srgbClr val="BFE0D1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traduz constructos em processos e evidências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3154680" cy="1097280"/>
          </a:xfrm>
          <a:prstGeom prst="rect">
            <a:avLst/>
          </a:prstGeom>
          <a:solidFill>
            <a:srgbClr val="FFF0D9"/>
          </a:solidFill>
          <a:ln w="12700">
            <a:solidFill>
              <a:srgbClr val="E7CA94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Instituição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evidências para melhoria contínua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104241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 passo: revisar diffs locais, aprovar a versão 0.10.0 e separar o protocolo do piloto em Neurovisão.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5855" cy="0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Apêndice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77295" y="65105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146304"/>
            <a:ext cx="1118585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DOCUMENTAL DA APRESENTAÇÃO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Arquivos usados para consolidar esta versão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014984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fundador MAPES v0.9.0 e revisão sistematizada associada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de conciliação preenchido com decisões de implementação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Especificação do Prompt Secretário-Geral para rastreabilidade, fontes autorizadas e gates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de formação MAPES Essencial como referência de baixa burocracia</a:t>
            </a:r>
            <a:endParaRPr lang="en-US" sz="1800" dirty="0"/>
          </a:p>
          <a:p>
            <a:r>
              <a:rPr lang="en-US" sz="18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operacional discutida no processo de conciliação, incorporada sem fragmentar o framework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10424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apêndice pode ser removido antes da apresentação formal se os autores preferirem uma versão sem base documental explícita.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Projeto MAPES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MAPES - Conciliação e plano de implementação v0.10.0</dc:title>
  <dc:subject>MAPES v0.10.0 - apresentação de conciliação e implementação</dc:subject>
  <dc:creator>OpenAI</dc:creator>
  <cp:lastModifiedBy>OpenAI</cp:lastModifiedBy>
  <cp:revision>1</cp:revision>
  <dcterms:created xsi:type="dcterms:W3CDTF">2026-07-29T14:17:48Z</dcterms:created>
  <dcterms:modified xsi:type="dcterms:W3CDTF">2026-07-29T14:17:48Z</dcterms:modified>
</cp:coreProperties>
</file>